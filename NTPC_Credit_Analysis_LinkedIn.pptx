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633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31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47183</c:v>
                </c:pt>
                <c:pt idx="1">
                  <c:v>46905</c:v>
                </c:pt>
                <c:pt idx="2">
                  <c:v>49749</c:v>
                </c:pt>
                <c:pt idx="3">
                  <c:v>49030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PAT</c:v>
                </c:pt>
              </c:strCache>
            </c:strRef>
          </c:tx>
          <c:spPr>
            <a:solidFill>
              <a:srgbClr val="2F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31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17197</c:v>
                </c:pt>
                <c:pt idx="1">
                  <c:v>18079</c:v>
                </c:pt>
                <c:pt idx="2">
                  <c:v>19649</c:v>
                </c:pt>
                <c:pt idx="3">
                  <c:v>23162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431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5738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57384"/>
                    </a:solidFill>
                    <a:latin typeface="Arial"/>
                  </a:rPr>
                  <a:t>₹ crore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573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CCC (days)</c:v>
                </c:pt>
              </c:strCache>
            </c:strRef>
          </c:tx>
          <c:spPr>
            <a:solidFill>
              <a:srgbClr val="B7791F"/>
            </a:solidFill>
            <a:ln w="38100" cap="flat">
              <a:solidFill>
                <a:srgbClr val="B7791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313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7791F"/>
              </a:solidFill>
              <a:ln w="9525" cap="flat">
                <a:solidFill>
                  <a:srgbClr val="B779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68.5</c:v>
                </c:pt>
                <c:pt idx="2">
                  <c:v>69</c:v>
                </c:pt>
                <c:pt idx="3">
                  <c:v>74.4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4313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5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ratio</c:v>
                </c:pt>
              </c:strCache>
            </c:strRef>
          </c:tx>
          <c:spPr>
            <a:solidFill>
              <a:srgbClr val="16335B"/>
            </a:solidFill>
            <a:ln w="38100" cap="flat">
              <a:solidFill>
                <a:srgbClr val="1633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335B"/>
              </a:solidFill>
              <a:ln w="9525" cap="flat">
                <a:solidFill>
                  <a:srgbClr val="1633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</c:v>
                </c:pt>
                <c:pt idx="1">
                  <c:v>0.92</c:v>
                </c:pt>
                <c:pt idx="2">
                  <c:v>0.96</c:v>
                </c:pt>
                <c:pt idx="3">
                  <c:v>0.94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Quick ratio</c:v>
                </c:pt>
              </c:strCache>
            </c:strRef>
          </c:tx>
          <c:spPr>
            <a:solidFill>
              <a:srgbClr val="188488"/>
            </a:solidFill>
            <a:ln w="38100" cap="flat">
              <a:solidFill>
                <a:srgbClr val="188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88488"/>
              </a:solidFill>
              <a:ln w="9525" cap="flat">
                <a:solidFill>
                  <a:srgbClr val="188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0.72</c:v>
                </c:pt>
                <c:pt idx="1">
                  <c:v>0.7</c:v>
                </c:pt>
                <c:pt idx="2">
                  <c:v>0.74</c:v>
                </c:pt>
                <c:pt idx="3">
                  <c:v>0.74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573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debt/EBITDA</c:v>
                </c:pt>
              </c:strCache>
            </c:strRef>
          </c:tx>
          <c:spPr>
            <a:solidFill>
              <a:srgbClr val="16335B"/>
            </a:solidFill>
            <a:ln w="38100" cap="flat">
              <a:solidFill>
                <a:srgbClr val="1633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335B"/>
              </a:solidFill>
              <a:ln w="9525" cap="flat">
                <a:solidFill>
                  <a:srgbClr val="1633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3.97</c:v>
                </c:pt>
                <c:pt idx="1">
                  <c:v>4</c:v>
                </c:pt>
                <c:pt idx="2">
                  <c:v>3.77</c:v>
                </c:pt>
                <c:pt idx="3">
                  <c:v>3.93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debt/EBITDA</c:v>
                </c:pt>
              </c:strCache>
            </c:strRef>
          </c:tx>
          <c:spPr>
            <a:solidFill>
              <a:srgbClr val="B7791F"/>
            </a:solidFill>
            <a:ln w="38100" cap="flat">
              <a:solidFill>
                <a:srgbClr val="B779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791F"/>
              </a:solidFill>
              <a:ln w="9525" cap="flat">
                <a:solidFill>
                  <a:srgbClr val="B779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3.97</c:v>
                </c:pt>
                <c:pt idx="1">
                  <c:v>4</c:v>
                </c:pt>
                <c:pt idx="2">
                  <c:v>3.77</c:v>
                </c:pt>
                <c:pt idx="3">
                  <c:v>3.91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  <c:min val="3.5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573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Debt-equity</c:v>
                </c:pt>
              </c:strCache>
            </c:strRef>
          </c:tx>
          <c:spPr>
            <a:solidFill>
              <a:srgbClr val="2F7D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1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1.34</c:v>
                </c:pt>
                <c:pt idx="1">
                  <c:v>1.24</c:v>
                </c:pt>
                <c:pt idx="2">
                  <c:v>1.15</c:v>
                </c:pt>
                <c:pt idx="3">
                  <c:v>1.09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431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ISCR</c:v>
                </c:pt>
              </c:strCache>
            </c:strRef>
          </c:tx>
          <c:spPr>
            <a:solidFill>
              <a:srgbClr val="2E6FAD"/>
            </a:solidFill>
            <a:ln w="38100" cap="flat">
              <a:solidFill>
                <a:srgbClr val="2E6FAD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313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6FAD"/>
              </a:solidFill>
              <a:ln w="9525" cap="flat">
                <a:solidFill>
                  <a:srgbClr val="2E6F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4.04</c:v>
                </c:pt>
                <c:pt idx="1">
                  <c:v>4.12</c:v>
                </c:pt>
                <c:pt idx="2">
                  <c:v>4.14</c:v>
                </c:pt>
                <c:pt idx="3">
                  <c:v>4.75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DSCR</c:v>
                </c:pt>
              </c:strCache>
            </c:strRef>
          </c:tx>
          <c:spPr>
            <a:solidFill>
              <a:srgbClr val="2F7D5B"/>
            </a:solidFill>
            <a:ln w="38100" cap="flat">
              <a:solidFill>
                <a:srgbClr val="2F7D5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313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7D5B"/>
              </a:solidFill>
              <a:ln w="9525" cap="flat">
                <a:solidFill>
                  <a:srgbClr val="2F7D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FY26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1.29</c:v>
                </c:pt>
                <c:pt idx="1">
                  <c:v>1.56</c:v>
                </c:pt>
                <c:pt idx="2">
                  <c:v>1.67</c:v>
                </c:pt>
                <c:pt idx="3">
                  <c:v>1.68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4313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73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573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 MANAGEMENT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 Limited | Credit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71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Four-Year Financial &amp; Credit Risk Review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56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2022-23 to FY 2025-26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Finance  |  Credit Risk 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  •   Liquidity   •   Capital Structure   •   Debt Service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8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reached ₹23,162 Cr in FY26, up 34.7% from FY23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| EBITDA and PAT, FY23–FY26 (₹ crore)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60920" y="1691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₹23,162 Cr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22128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in FY26, up from ₹17,197 Cr in FY23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278892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stayed resilient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308152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the ₹47,000–50,000 Cr range across all four years despite revenue movement.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37490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rose every year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04164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 in net profit improves capacity to absorb debt obligations.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470916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growth needs a caveat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500176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34.7% PAT jump was boosted by tax and regulatory items — not pure operating growth.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56235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view: profitability is a clear strength, though FY26 net profit quality warrants monitoring.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 LIMITED  |  STANDALONE CREDIT ANALYSIS  |  FY23–FY26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8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 cycle increased from 64 to 74.4 days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Liquidity, working capital and cash conversion cycle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 cycle (days)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52120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 &amp; quick ratio (times)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7200" y="4434840"/>
          <a:ext cx="52120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989320" y="1691640"/>
            <a:ext cx="5760720" cy="1417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217920" y="1810512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is manageable, but working-capital pressure requires monitoring.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98932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 below 1.0x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3566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0.91x (FY23) → 0.94x (FY26); current liabilities continue to exceed current assets.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40416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ratio steady at 0.70–0.74x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989320" y="43159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cushion once inventory is excluded.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989320" y="47914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working capital negative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989320" y="506577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₹(6,306) Cr in FY23 to ₹(5,625) Cr in FY26 — deficit persists.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989320" y="55412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 lengthened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5989320" y="58155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 to 74.4 days over four years, driven by slower receivables and inventory turnover.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989320" y="63367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Mitigants: monthly billing, regulated cost recovery, LCs, tripartite arrangements and ₹12,210 Cr of undrawn facilities.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 LIMITED  |  STANDALONE CREDIT ANALYSIS  |  FY23–FY26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8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improved overall, but debt intensity increased in FY26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 | Gross/net debt to EBITDA and debt-equity ratio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&amp; net debt / EBITDA (times)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52120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Debt-equity ratio (times)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7200" y="4434840"/>
          <a:ext cx="52120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989320" y="1691640"/>
            <a:ext cx="5760720" cy="1051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217920" y="18105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Debt-equity declined from 1.34x to 1.09x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989320" y="2971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leverage improved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3246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grew 25.9% over four years as profit was retained; debt-equity fell every year.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37216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borrowings stayed controlled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989320" y="39959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only 2.66% over four years — equity growth outpaced debt growth.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989320" y="44714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debt intensity ticked up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989320" y="474573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debt/EBITDA rose to 3.93x and net debt/EBITDA to 3.91x, from 3.77x in FY25.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989320" y="52212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remains a structural risk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5989320" y="54955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investment in thermal, renewable and storage capacity can keep debt elevated.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 LIMITED  |  STANDALONE CREDIT ANALYSIS  |  FY23–FY26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8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Debt-servicing capacity improved steadily, supporting a low credit-risk view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service | Interest service coverage and debt service coverage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291840" cy="1600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4.75x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service coverage (ISCR)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4.04x in FY23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3291840" cy="1600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1.68x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service coverage (DSCR)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1.29x in FY23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691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ratios, FY23–FY26 (times)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023360" y="2011680"/>
          <a:ext cx="7680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023360" y="5166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FY25 DSCR uses the latest restated figure of 1.67x.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 improved as finance cost fell 5.6% on repayment and refinancing.  DSCR improved as cash earnings comfortably covered principal and interest.  Repayment capacity remains comfortable across the review period.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 LIMITED  |  STANDALONE CREDIT ANALYSIS  |  FY23–FY26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8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051560"/>
          </a:xfrm>
          <a:prstGeom prst="rect">
            <a:avLst/>
          </a:prstGeom>
          <a:solidFill>
            <a:srgbClr val="1633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9601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CONTINUE CREDIT EXPOSURE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stable EBITDA, holding ₹47,000–50,000 Cr across four years.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reached ₹23,162 Cr in FY26, up every year.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ISCR improved to 4.75x.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improved to 1.68x.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Debt-equity declined to 1.09x.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TO MONITOR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74320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 cycle increased to 74.4 days.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 remains below 1x.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borrowing increased.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capex requirements ahead.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166360"/>
            <a:ext cx="11274552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516636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63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credit risk with Stable outlook, subject to continued liquidity and capex monitoring.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 LIMITED  |  STANDALONE CREDIT ANALYSIS  |  FY23–FY26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2026-09-05T06:55:32Z</dcterms:created>
  <dcterms:modified xsi:type="dcterms:W3CDTF">2026-09-05T06:55:32Z</dcterms:modified>
</cp:coreProperties>
</file>